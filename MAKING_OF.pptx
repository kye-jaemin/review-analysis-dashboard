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93C5FD"/>
                </a:solidFill>
                <a:latin typeface="맑은 고딕"/>
              </a:rPr>
              <a:t>생성형 AI 활용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생성형 AI로 서비스를 만들다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CBD5E1"/>
                </a:solidFill>
                <a:latin typeface="맑은 고딕"/>
              </a:rPr>
              <a:t>— 소비자 리뷰 분석 Agent 제작 과정 이야기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맑은 고딕"/>
              </a:rPr>
              <a:t>코드 없이 이해하는 </a:t>
            </a:r>
            <a:r>
              <a:rPr sz="1500" b="1">
                <a:solidFill>
                  <a:srgbClr val="10B981"/>
                </a:solidFill>
                <a:latin typeface="맑은 고딕"/>
              </a:rPr>
              <a:t>개념 · 사례 · 교훈</a:t>
            </a:r>
            <a:r>
              <a:rPr sz="1500" b="0">
                <a:solidFill>
                  <a:srgbClr val="CBD5E1"/>
                </a:solidFill>
                <a:latin typeface="맑은 고딕"/>
              </a:rPr>
              <a:t>   |   대상: 비개발 실무자 · 리더 · 의사결정자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93C5FD"/>
                </a:solidFill>
                <a:latin typeface="맑은 고딕"/>
              </a:rPr>
              <a:t>데모: https://review-dashboard-54y4.onrender.com/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맑은 고딕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한 장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3566160" cy="6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>
                <a:solidFill>
                  <a:srgbClr val="2563EB"/>
                </a:solidFill>
                <a:latin typeface="맑은 고딕"/>
              </a:rPr>
              <a:t>무엇을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3154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맑은 고딕"/>
              </a:rPr>
              <a:t>여러 채널(앱스토어·구글플레이·레딧·웹)의 소비자 리뷰를 자동으로 모아 주제별 분류 + 감정 점수화해 한눈에 보여주는 웹 서비스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50876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508760"/>
            <a:ext cx="3566160" cy="6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37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>
                <a:solidFill>
                  <a:srgbClr val="2563EB"/>
                </a:solidFill>
                <a:latin typeface="맑은 고딕"/>
              </a:rPr>
              <a:t>어떻게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86000"/>
            <a:ext cx="3154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맑은 고딕"/>
              </a:rPr>
              <a:t>기획·코딩·디자인·버그수정·배포까지 생성형 AI(클로드)를 페어 파트너로. 사람이 방향을 잡고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150876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508760"/>
            <a:ext cx="3566160" cy="6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737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>
                <a:solidFill>
                  <a:srgbClr val="2563EB"/>
                </a:solidFill>
                <a:latin typeface="맑은 고딕"/>
              </a:rPr>
              <a:t>얼마나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286000"/>
            <a:ext cx="3154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맑은 고딕"/>
              </a:rPr>
              <a:t>실작업 9일 / 3주에 약 2.3만 줄 규모의 풀스택 서비스를 1인이 완성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11091672" cy="1554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2452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맑은 고딕"/>
              </a:rPr>
              <a:t>핵심 메시지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</a:rPr>
              <a:t>생성형 AI는 "버튼 한 번에 완성품"이 아니라, </a:t>
            </a:r>
            <a:r>
              <a:rPr sz="1800" b="1">
                <a:solidFill>
                  <a:srgbClr val="93C5FD"/>
                </a:solidFill>
                <a:latin typeface="맑은 고딕"/>
              </a:rPr>
              <a:t>방향을 주는 사람 + 빠르게 반복하는 도구</a:t>
            </a:r>
            <a:r>
              <a:rPr sz="1800" b="0">
                <a:solidFill>
                  <a:srgbClr val="FFFFFF"/>
                </a:solidFill>
                <a:latin typeface="맑은 고딕"/>
              </a:rPr>
              <a:t>입니다.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CBD5E1"/>
                </a:solidFill>
                <a:latin typeface="맑은 고딕"/>
              </a:rPr>
              <a:t>생산성은 곧  반복 속도 × 검증 습관  에서 나옵니다.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맑은 고딕"/>
              </a:rPr>
              <a:t>핵심 구분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"AI 활용"에는 두 층이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발표에서 이 둘을 섞으면 청중이 혼란스러워집니다. 먼저 분리하세요.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7667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376672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① AI로 만들었다  (도구)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4846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· </a:t>
            </a:r>
            <a:r>
              <a:rPr sz="1500" b="1">
                <a:solidFill>
                  <a:srgbClr val="374151"/>
                </a:solidFill>
                <a:latin typeface="맑은 고딕"/>
              </a:rPr>
              <a:t>기획서·코드·디자인을 AI가 작성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· </a:t>
            </a:r>
            <a:r>
              <a:rPr sz="1400" b="0">
                <a:solidFill>
                  <a:srgbClr val="6B7280"/>
                </a:solidFill>
                <a:latin typeface="맑은 고딕"/>
              </a:rPr>
              <a:t>비유: AI라는 숙련공과 함께 집을 지음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맑은 고딕"/>
              </a:rPr>
              <a:t>· </a:t>
            </a:r>
            <a:r>
              <a:rPr sz="1400" b="0">
                <a:solidFill>
                  <a:srgbClr val="6B7280"/>
                </a:solidFill>
                <a:latin typeface="맑은 고딕"/>
              </a:rPr>
              <a:t>이 프로젝트: 3주 만에 서비스 전체를 구축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37667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376672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38528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② AI를 담았다  (기능)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846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0B981"/>
                </a:solidFill>
                <a:latin typeface="맑은 고딕"/>
              </a:rPr>
              <a:t>· </a:t>
            </a:r>
            <a:r>
              <a:rPr sz="1500" b="1">
                <a:solidFill>
                  <a:srgbClr val="374151"/>
                </a:solidFill>
                <a:latin typeface="맑은 고딕"/>
              </a:rPr>
              <a:t>완성된 앱이 사용자를 위해 AI를 실행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0B981"/>
                </a:solidFill>
                <a:latin typeface="맑은 고딕"/>
              </a:rPr>
              <a:t>· </a:t>
            </a:r>
            <a:r>
              <a:rPr sz="1400" b="0">
                <a:solidFill>
                  <a:srgbClr val="6B7280"/>
                </a:solidFill>
                <a:latin typeface="맑은 고딕"/>
              </a:rPr>
              <a:t>비유: 집 안에 똑똑한 가전을 설치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0B981"/>
                </a:solidFill>
                <a:latin typeface="맑은 고딕"/>
              </a:rPr>
              <a:t>· </a:t>
            </a:r>
            <a:r>
              <a:rPr sz="1400" b="0">
                <a:solidFill>
                  <a:srgbClr val="6B7280"/>
                </a:solidFill>
                <a:latin typeface="맑은 고딕"/>
              </a:rPr>
              <a:t>이 프로젝트: 리뷰를 자동 분류·감정 점수화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29200"/>
            <a:ext cx="11091672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75504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맑은 고딕"/>
              </a:rPr>
              <a:t>이 자료의 주인공은 </a:t>
            </a:r>
            <a:r>
              <a:rPr sz="1500" b="1">
                <a:solidFill>
                  <a:srgbClr val="2563EB"/>
                </a:solidFill>
                <a:latin typeface="맑은 고딕"/>
              </a:rPr>
              <a:t>①(만든 과정)</a:t>
            </a:r>
            <a:r>
              <a:rPr sz="1500" b="0">
                <a:solidFill>
                  <a:srgbClr val="374151"/>
                </a:solidFill>
                <a:latin typeface="맑은 고딕"/>
              </a:rPr>
              <a:t>. ②는 "AI 기능을 잘 설계하면 어떤 모습인가"를 보여주는 </a:t>
            </a:r>
            <a:r>
              <a:rPr sz="1500" b="1">
                <a:solidFill>
                  <a:srgbClr val="10B981"/>
                </a:solidFill>
                <a:latin typeface="맑은 고딕"/>
              </a:rPr>
              <a:t>보너스 사례</a:t>
            </a:r>
            <a:r>
              <a:rPr sz="1500" b="0">
                <a:solidFill>
                  <a:srgbClr val="374151"/>
                </a:solidFill>
                <a:latin typeface="맑은 고딕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맑은 고딕"/>
              </a:rPr>
              <a:t>제작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7단계 — 사람과 AI의 역할 분담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1672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80560"/>
                <a:gridCol w="4233672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109728" marR="91440" marT="45720" marB="4572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사람이 한 일  (방향·판단)</a:t>
                      </a:r>
                    </a:p>
                  </a:txBody>
                  <a:tcPr marL="109728" marR="91440" marT="45720" marB="4572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AI가 한 일  (생성·실행)</a:t>
                      </a:r>
                    </a:p>
                  </a:txBody>
                  <a:tcPr marL="109728" marR="91440" marT="45720" marB="45720" anchor="ctr"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1. 기획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무엇을·왜 만들지 결정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상세 기획서 초안 작성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2. 뼈대 세우기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기술 방향 승인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폴더 구조·기본 틀 생성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3. 기능 개발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원하는 기능을 말로 요청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동작하는 화면·로직 구현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4. 디자인 다듬기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"더 고급스럽게" 같은 피드백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애니메이션·시각효과 적용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5. 버그 수정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문제 상황 전달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원인 찾고 수정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6. 품질 점검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합격 기준 설정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자동 테스트 작성·실행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7. 배포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공개 결정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74151"/>
                          </a:solidFill>
                          <a:latin typeface="맑은 고딕"/>
                        </a:rPr>
                        <a:t>배포 설정·실서버 반영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핵심: </a:t>
            </a:r>
            <a:r>
              <a:rPr sz="1400" b="0">
                <a:solidFill>
                  <a:srgbClr val="374151"/>
                </a:solidFill>
                <a:latin typeface="맑은 고딕"/>
              </a:rPr>
              <a:t>AI는 "어떻게(How)"를 빠르게, 사람은 "무엇·왜(What/Why)"와 "이게 맞나(검증)"를 책임진다.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맑은 고딕"/>
              </a:rPr>
              <a:t>일하는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작게 · 자주 · 검증하며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76200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2563EB"/>
                </a:solidFill>
                <a:latin typeface="맑은 고딕"/>
              </a:rPr>
              <a:t>50회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맑은 고딕"/>
              </a:rPr>
              <a:t>작은 개선(커밋)으로 전진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55448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554480"/>
            <a:ext cx="76200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78308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0B981"/>
                </a:solidFill>
                <a:latin typeface="맑은 고딕"/>
              </a:rPr>
              <a:t>작게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6060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맑은 고딕"/>
              </a:rPr>
              <a:t>틀려도 빨리 되돌리고 검증 쉽게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155448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554480"/>
            <a:ext cx="76200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8308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59E0B"/>
                </a:solidFill>
                <a:latin typeface="맑은 고딕"/>
              </a:rPr>
              <a:t>대화로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6060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맑은 고딕"/>
              </a:rPr>
              <a:t>에러를 보여주면 AI가 원인·수정 제시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49039"/>
            <a:ext cx="11091672" cy="18288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10B981"/>
                </a:solidFill>
                <a:latin typeface="맑은 고딕"/>
              </a:rPr>
              <a:t>왜 작게 만드는가?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한 번에 완성이 아니라 50번의 작은 개선. AI가 만든 큰 덩어리를 통째로 믿는 건 위험합니다.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맑은 고딕"/>
              </a:rPr>
              <a:t>→ AI 협업의 생산성은 "한 번에 완벽한 지시"가 아니라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93C5FD"/>
                </a:solidFill>
                <a:latin typeface="맑은 고딕"/>
              </a:rPr>
              <a:t>   "빠른 요청 → 결과 확인 → 다음 요청"의 회전 속도에서 나온다.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맑은 고딕"/>
              </a:rPr>
              <a:t>보너스 (② 기능 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AI 기능을 똑똑하게 설계한다는 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167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206240"/>
                <a:gridCol w="386791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설계 장치</a:t>
                      </a:r>
                    </a:p>
                  </a:txBody>
                  <a:tcPr marL="109728" marR="91440" marT="45720" marB="4572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쉬운 설명</a:t>
                      </a:r>
                    </a:p>
                  </a:txBody>
                  <a:tcPr marL="109728" marR="91440" marT="45720" marB="4572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왜 중요한가</a:t>
                      </a:r>
                    </a:p>
                  </a:txBody>
                  <a:tcPr marL="109728" marR="91440" marT="45720" marB="45720" anchor="ctr">
                    <a:solidFill>
                      <a:srgbClr val="2563E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같은 입력 → 같은 결과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AI의 "기분 따라 달라짐"을 끔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보고서 숫자가 매번 바뀌면 신뢰 불가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예시 먼저 보여주기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기준이 되는 분류 예시 제공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결과가 일관되게 수렴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3중 안전장치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규칙 어기면 시스템이 걸러냄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"장점에 단점 섞임" 오류 방지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반복 호출 캐싱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같은 작업은 다시 안 시킴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AI 사용 비용 절감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숫자 보정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AI 추정치를 실제 데이터로 맞춤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차트와 실제 건수 불일치 방지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작업별 모델 선택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가벼운 일엔 저렴, 중요한 일엔 고급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74151"/>
                          </a:solidFill>
                          <a:latin typeface="맑은 고딕"/>
                        </a:rPr>
                        <a:t>비용 ↔ 정확도 균형  (다음 장)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맑은 고딕"/>
              </a:rPr>
              <a:t>교훈: </a:t>
            </a:r>
            <a:r>
              <a:rPr sz="1400" b="0">
                <a:solidFill>
                  <a:srgbClr val="374151"/>
                </a:solidFill>
                <a:latin typeface="맑은 고딕"/>
              </a:rPr>
              <a:t>AI를 제품에 넣을 때 진짜 실력은 "환각·비용·일관성"을 어떻게 통제하느냐에서 갈린다.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맑은 고딕"/>
              </a:rPr>
              <a:t>비용 통제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작업별 모델 선택 — 어떤 일에 어떤 AI를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6200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44752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10B981"/>
                </a:solidFill>
                <a:latin typeface="맑은 고딕"/>
              </a:rPr>
              <a:t>Haiku  </a:t>
            </a:r>
            <a:r>
              <a:rPr sz="1400" b="1">
                <a:solidFill>
                  <a:srgbClr val="374151"/>
                </a:solidFill>
                <a:latin typeface="맑은 고딕"/>
              </a:rPr>
              <a:t>= 실무 담당자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경량·고속·저비용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37160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371600"/>
            <a:ext cx="76200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44752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2563EB"/>
                </a:solidFill>
                <a:latin typeface="맑은 고딕"/>
              </a:rPr>
              <a:t>Sonnet  </a:t>
            </a:r>
            <a:r>
              <a:rPr sz="1400" b="1">
                <a:solidFill>
                  <a:srgbClr val="374151"/>
                </a:solidFill>
                <a:latin typeface="맑은 고딕"/>
              </a:rPr>
              <a:t>= 중간 관리자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균형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37160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371600"/>
            <a:ext cx="7620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444752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59E0B"/>
                </a:solidFill>
                <a:latin typeface="맑은 고딕"/>
              </a:rPr>
              <a:t>Opus  </a:t>
            </a:r>
            <a:r>
              <a:rPr sz="1400" b="1">
                <a:solidFill>
                  <a:srgbClr val="374151"/>
                </a:solidFill>
                <a:latin typeface="맑은 고딕"/>
              </a:rPr>
              <a:t>= 전문가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최고 정확·고비용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2560320"/>
          <a:ext cx="11091672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560320"/>
                <a:gridCol w="469087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작업</a:t>
                      </a:r>
                    </a:p>
                  </a:txBody>
                  <a:tcPr marL="109728" marR="91440" marT="45720" marB="4572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기본 모델</a:t>
                      </a:r>
                    </a:p>
                  </a:txBody>
                  <a:tcPr marL="109728" marR="91440" marT="45720" marB="4572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왜 이 선택인가</a:t>
                      </a:r>
                    </a:p>
                  </a:txBody>
                  <a:tcPr marL="109728" marR="91440" marT="45720" marB="45720" anchor="ctr"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리뷰 분류 + 감정 점수 (핵심·대량)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Haiku → 필요시 승급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대량이라 속도·비용 관건. 중요 분석만 사람이 상위 모델 선택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주제 자동 도출 (Top 10)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분석에서 고른 모델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분류 작업과 한 묶음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감정 원인 마인드맵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Haiku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탐색용·자주 재생성 → 저비용 우선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리뷰 번역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Haiku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가볍고 빈번한 작업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업체 강·약점 원인 분석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Haiku + 온도0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비용보다 "같은 결과 보장"이 중요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경쟁력 심화 분류·기준 매핑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Haiku + 온도0 + 캐시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74151"/>
                          </a:solidFill>
                          <a:latin typeface="맑은 고딕"/>
                        </a:rPr>
                        <a:t>결정성·비용 동시 확보</a:t>
                      </a:r>
                    </a:p>
                  </a:txBody>
                  <a:tcPr marL="109728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6172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맑은 고딕"/>
              </a:rPr>
              <a:t>원칙: </a:t>
            </a:r>
            <a:r>
              <a:rPr sz="1250" b="0">
                <a:solidFill>
                  <a:srgbClr val="374151"/>
                </a:solidFill>
                <a:latin typeface="맑은 고딕"/>
              </a:rPr>
              <a:t>①기본은 가장 가벼운 Haiku  ②승급은 사람이, 핵심 작업에만  ③재현성 필요하면 온도0 + 캐시로 비용까지 절감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맑은 고딕"/>
              </a:rPr>
              <a:t>신뢰성 통제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temperature = 0 vs 기본값 — 언제 어떻게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temperature = AI가 답을 고를 때 </a:t>
            </a:r>
            <a:r>
              <a:rPr sz="1400" b="1">
                <a:solidFill>
                  <a:srgbClr val="374151"/>
                </a:solidFill>
                <a:latin typeface="맑은 고딕"/>
              </a:rPr>
              <a:t>"주사위를 던지는 정도"</a:t>
            </a:r>
            <a:r>
              <a:rPr sz="1400" b="0">
                <a:solidFill>
                  <a:srgbClr val="6B7280"/>
                </a:solidFill>
                <a:latin typeface="맑은 고딕"/>
              </a:rPr>
              <a:t>.  0이면 주사위를 안 던져 항상 같은 답, 높을수록 표현이 매번 조금씩 달라짐.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7667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376672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9384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temperature = 0  (결정적)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맑은 고딕"/>
              </a:rPr>
              <a:t>같은 입력 = 항상 같은 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35808"/>
            <a:ext cx="4892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10B981"/>
                </a:solidFill>
                <a:latin typeface="맑은 고딕"/>
              </a:rPr>
              <a:t>· </a:t>
            </a:r>
            <a:r>
              <a:rPr sz="1300" b="0">
                <a:solidFill>
                  <a:srgbClr val="374151"/>
                </a:solidFill>
                <a:latin typeface="맑은 고딕"/>
              </a:rPr>
              <a:t>쓰는 곳: 경쟁력 분류·기준매핑, 업체 원인분석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10B981"/>
                </a:solidFill>
                <a:latin typeface="맑은 고딕"/>
              </a:rPr>
              <a:t>· </a:t>
            </a:r>
            <a:r>
              <a:rPr sz="1300" b="0">
                <a:solidFill>
                  <a:srgbClr val="374151"/>
                </a:solidFill>
                <a:latin typeface="맑은 고딕"/>
              </a:rPr>
              <a:t>효과: 보고서 신뢰 + 캐시로 LLM 재호출 0회(비용↓)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10B981"/>
                </a:solidFill>
                <a:latin typeface="맑은 고딕"/>
              </a:rPr>
              <a:t>· </a:t>
            </a:r>
            <a:r>
              <a:rPr sz="1300" b="0">
                <a:solidFill>
                  <a:srgbClr val="374151"/>
                </a:solidFill>
                <a:latin typeface="맑은 고딕"/>
              </a:rPr>
              <a:t>숫자 보정 로직과도 안 어긋남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37667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5376672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929384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기본값 ≈ 1.0  (다양성)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57860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맑은 고딕"/>
              </a:rPr>
              <a:t>표현이 매번 조금 달라짐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35808"/>
            <a:ext cx="4892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563EB"/>
                </a:solidFill>
                <a:latin typeface="맑은 고딕"/>
              </a:rPr>
              <a:t>· </a:t>
            </a:r>
            <a:r>
              <a:rPr sz="1300" b="0">
                <a:solidFill>
                  <a:srgbClr val="374151"/>
                </a:solidFill>
                <a:latin typeface="맑은 고딕"/>
              </a:rPr>
              <a:t>쓰는 곳: 리뷰 번역, 마인드맵, 자동 카테고리 도출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563EB"/>
                </a:solidFill>
                <a:latin typeface="맑은 고딕"/>
              </a:rPr>
              <a:t>· </a:t>
            </a:r>
            <a:r>
              <a:rPr sz="1300" b="0">
                <a:solidFill>
                  <a:srgbClr val="374151"/>
                </a:solidFill>
                <a:latin typeface="맑은 고딕"/>
              </a:rPr>
              <a:t>효과: 더 자연스러운 문장·표현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563EB"/>
                </a:solidFill>
                <a:latin typeface="맑은 고딕"/>
              </a:rPr>
              <a:t>· </a:t>
            </a:r>
            <a:r>
              <a:rPr sz="1300" b="0">
                <a:solidFill>
                  <a:srgbClr val="374151"/>
                </a:solidFill>
                <a:latin typeface="맑은 고딕"/>
              </a:rPr>
              <a:t>읽기·탐색용이라 재현성 부담이 작음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34840"/>
            <a:ext cx="11091672" cy="14173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맑은 고딕"/>
              </a:rPr>
              <a:t>예시 — 경쟁력 분석에 같은 엑셀을 다시 업로드하면?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6EE7B7"/>
                </a:solidFill>
                <a:latin typeface="맑은 고딕"/>
              </a:rPr>
              <a:t>0: </a:t>
            </a:r>
            <a:r>
              <a:rPr sz="1500" b="0">
                <a:solidFill>
                  <a:srgbClr val="FFFFFF"/>
                </a:solidFill>
                <a:latin typeface="맑은 고딕"/>
              </a:rPr>
              <a:t>글자까지 똑같은 12개 카테고리·숫자 → 캐시 적중(재호출 0회)    </a:t>
            </a:r>
            <a:r>
              <a:rPr sz="1500" b="1">
                <a:solidFill>
                  <a:srgbClr val="FCA5A5"/>
                </a:solidFill>
                <a:latin typeface="맑은 고딕"/>
              </a:rPr>
              <a:t>높으면: </a:t>
            </a:r>
            <a:r>
              <a:rPr sz="1500" b="0">
                <a:solidFill>
                  <a:srgbClr val="FFFFFF"/>
                </a:solidFill>
                <a:latin typeface="맑은 고딕"/>
              </a:rPr>
              <a:t>카테고리 수·분류·숫자가 출렁 → "어제 PPT랑 왜 달라요?"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93C5FD"/>
                </a:solidFill>
                <a:latin typeface="맑은 고딕"/>
              </a:rPr>
              <a:t>정리: 숫자로 집계·저장·공유하는 작업 → 0 / 읽기·탐색용 생성 작업 → 기본값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맑은 고딕"/>
              </a:rPr>
              <a:t>신뢰받는 발표는 한계도 말한다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AI가 "혼자" 못한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76200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82496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374151"/>
                </a:solidFill>
                <a:latin typeface="맑은 고딕"/>
              </a:rPr>
              <a:t>• 방향과 취향은 사람 몫</a:t>
            </a:r>
            <a:r>
              <a:rPr sz="1400" b="0">
                <a:solidFill>
                  <a:srgbClr val="6B7280"/>
                </a:solidFill>
                <a:latin typeface="맑은 고딕"/>
              </a:rPr>
              <a:t>   —  "어떤 기능이 필요한가", "이 화면이 임원에게 와닿는가"는 AI가 정해주지 않음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70048"/>
            <a:ext cx="76200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98064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374151"/>
                </a:solidFill>
                <a:latin typeface="맑은 고딕"/>
              </a:rPr>
              <a:t>• 도메인 판단은 사람이</a:t>
            </a:r>
            <a:r>
              <a:rPr sz="1400" b="0">
                <a:solidFill>
                  <a:srgbClr val="6B7280"/>
                </a:solidFill>
                <a:latin typeface="맑은 고딕"/>
              </a:rPr>
              <a:t>   —  같은 회사가 스토어마다 다른 이름으로 등록된 경우를 합치는 규칙은 사람이 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6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85616"/>
            <a:ext cx="76200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13632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374151"/>
                </a:solidFill>
                <a:latin typeface="맑은 고딕"/>
              </a:rPr>
              <a:t>• 검증 없이는 위험</a:t>
            </a:r>
            <a:r>
              <a:rPr sz="1400" b="0">
                <a:solidFill>
                  <a:srgbClr val="6B7280"/>
                </a:solidFill>
                <a:latin typeface="맑은 고딕"/>
              </a:rPr>
              <a:t>   —  AI 결과물은 반드시 테스트·사람 검토. 그래서 자동 테스트 19종을 함께 운영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01184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901184"/>
            <a:ext cx="76200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374151"/>
                </a:solidFill>
                <a:latin typeface="맑은 고딕"/>
              </a:rPr>
              <a:t>• 보안·비용은 설계 사항</a:t>
            </a:r>
            <a:r>
              <a:rPr sz="1400" b="0">
                <a:solidFill>
                  <a:srgbClr val="6B7280"/>
                </a:solidFill>
                <a:latin typeface="맑은 고딕"/>
              </a:rPr>
              <a:t>   —  무단 사용을 막는 접근 장치, 비용 통제는 사람이 의도적으로 넣음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맑은 고딕"/>
              </a:rPr>
              <a:t>숫자로 보는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1인 · 3주로 풀스택 서비스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563EB"/>
                </a:solidFill>
                <a:latin typeface="맑은 고딕"/>
              </a:rPr>
              <a:t>3주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맑은 고딕"/>
              </a:rPr>
              <a:t>개발 기간 (실작업 9일)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554480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8288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563EB"/>
                </a:solidFill>
                <a:latin typeface="맑은 고딕"/>
              </a:rPr>
              <a:t>50회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65176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맑은 고딕"/>
              </a:rPr>
              <a:t>개선 횟수(커밋)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554480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3296" y="182880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563EB"/>
                </a:solidFill>
                <a:latin typeface="맑은 고딕"/>
              </a:rPr>
              <a:t>2.3만 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65176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맑은 고딕"/>
              </a:rPr>
              <a:t>코드 규모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20439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94759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563EB"/>
                </a:solidFill>
                <a:latin typeface="맑은 고딕"/>
              </a:rPr>
              <a:t>19종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17719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맑은 고딕"/>
              </a:rPr>
              <a:t>자동 테스트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8" y="3520439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3794759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563EB"/>
                </a:solidFill>
                <a:latin typeface="맑은 고딕"/>
              </a:rPr>
              <a:t>4개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4617719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맑은 고딕"/>
              </a:rPr>
              <a:t>연동 채널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83296" y="3520439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3296" y="3794759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563EB"/>
                </a:solidFill>
                <a:latin typeface="맑은 고딕"/>
              </a:rPr>
              <a:t>1명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4617719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맑은 고딕"/>
              </a:rPr>
              <a:t>투입 인원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374151"/>
                </a:solidFill>
                <a:latin typeface="맑은 고딕"/>
              </a:rPr>
              <a:t>통상 수 명이 수개월 걸릴 풀스택 서비스를 </a:t>
            </a:r>
            <a:r>
              <a:rPr sz="1500" b="1">
                <a:solidFill>
                  <a:srgbClr val="10B981"/>
                </a:solidFill>
                <a:latin typeface="맑은 고딕"/>
              </a:rPr>
              <a:t>1인이 3주 만에</a:t>
            </a:r>
            <a:r>
              <a:rPr sz="1500" b="0">
                <a:solidFill>
                  <a:srgbClr val="374151"/>
                </a:solidFill>
                <a:latin typeface="맑은 고딕"/>
              </a:rPr>
              <a:t> — 이것이 생성형 AI 협업의 체감 효과입니다.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결론 — 한 줄 Take-aways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1024128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822960" cy="10241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82296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45336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AI는 "완성 버튼"이 아니라 "빠른 파트너"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방향은 사람이, 속도는 AI가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69464"/>
            <a:ext cx="10881360" cy="1024128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69464"/>
            <a:ext cx="822960" cy="10241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9464"/>
            <a:ext cx="82296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6974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생산성 = 반복 속도 × 검증 습관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작게 자주, 그리고 항상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21608"/>
            <a:ext cx="10881360" cy="1024128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21608"/>
            <a:ext cx="822960" cy="10241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21608"/>
            <a:ext cx="82296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49624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AI 기능의 진짜 실력은 통제력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일관성 · 비용 · 환각을 다루는 설계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73752"/>
            <a:ext cx="10881360" cy="1024128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873752"/>
            <a:ext cx="822960" cy="10241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73752"/>
            <a:ext cx="82296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00176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결과는 명확하다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1인·3주로 풀스택 서비스 — 우리 업무에도 같은 레버리지가 가능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문의: jaemin.kye@samsung.com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